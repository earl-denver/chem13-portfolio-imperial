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ekko" charset="1" panose="00000500000000000000"/>
      <p:regular r:id="rId17"/>
    </p:embeddedFont>
    <p:embeddedFont>
      <p:font typeface="Bitter" charset="1" panose="02000000000000000000"/>
      <p:regular r:id="rId18"/>
    </p:embeddedFont>
    <p:embeddedFont>
      <p:font typeface="VAG Rounded Next Shine" charset="1" panose="04020805020F02030202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158" y="1493272"/>
            <a:ext cx="16364169" cy="6969366"/>
          </a:xfrm>
          <a:custGeom>
            <a:avLst/>
            <a:gdLst/>
            <a:ahLst/>
            <a:cxnLst/>
            <a:rect r="r" b="b" t="t" l="l"/>
            <a:pathLst>
              <a:path h="6969366" w="16364169">
                <a:moveTo>
                  <a:pt x="0" y="0"/>
                </a:moveTo>
                <a:lnTo>
                  <a:pt x="16364169" y="0"/>
                </a:lnTo>
                <a:lnTo>
                  <a:pt x="16364169" y="6969367"/>
                </a:lnTo>
                <a:lnTo>
                  <a:pt x="0" y="696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5855" y="6101877"/>
            <a:ext cx="8999637" cy="110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1"/>
              </a:lnSpc>
            </a:pPr>
            <a:r>
              <a:rPr lang="en-US" sz="6429">
                <a:solidFill>
                  <a:srgbClr val="38B6FF"/>
                </a:solidFill>
                <a:latin typeface="Dekko"/>
                <a:ea typeface="Dekko"/>
                <a:cs typeface="Dekko"/>
                <a:sym typeface="Dekko"/>
              </a:rPr>
              <a:t> CHEMICAL ENGINEERING 2A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923" y="1746666"/>
            <a:ext cx="9300468" cy="99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6"/>
              </a:lnSpc>
            </a:pPr>
            <a:r>
              <a:rPr lang="en-US" sz="5826">
                <a:solidFill>
                  <a:srgbClr val="E1A8F0"/>
                </a:solidFill>
                <a:latin typeface="Dekko"/>
                <a:ea typeface="Dekko"/>
                <a:cs typeface="Dekko"/>
                <a:sym typeface="Dekko"/>
              </a:rPr>
              <a:t>ACTIVITY 2 ORGANIC CHEMISTRY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5543" y="3771148"/>
            <a:ext cx="7791364" cy="221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4"/>
              </a:lnSpc>
            </a:pPr>
            <a:r>
              <a:rPr lang="en-US" sz="7350">
                <a:solidFill>
                  <a:srgbClr val="737373"/>
                </a:solidFill>
                <a:latin typeface="Bitter"/>
                <a:ea typeface="Bitter"/>
                <a:cs typeface="Bitter"/>
                <a:sym typeface="Bitter"/>
              </a:rPr>
              <a:t>EARL DENVER B. IMPERIAL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682" y="430257"/>
            <a:ext cx="17134637" cy="9499188"/>
            <a:chOff x="0" y="0"/>
            <a:chExt cx="22846182" cy="1266558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846182" cy="1266558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846182" cy="2524792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2396"/>
              <a:ext cx="22846182" cy="1262396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037" y="10068225"/>
              <a:ext cx="2265173" cy="75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62" y="2261336"/>
            <a:ext cx="0" cy="7668108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76682" y="5686030"/>
            <a:ext cx="17134637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6" indent="-415608" lvl="1">
              <a:lnSpc>
                <a:spcPts val="5390"/>
              </a:lnSpc>
              <a:buAutoNum type="arabicPeriod" startAt="1"/>
            </a:pPr>
            <a:r>
              <a:rPr lang="en-US" sz="3850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443181" y="2772777"/>
            <a:ext cx="4206549" cy="3371800"/>
          </a:xfrm>
          <a:custGeom>
            <a:avLst/>
            <a:gdLst/>
            <a:ahLst/>
            <a:cxnLst/>
            <a:rect r="r" b="b" t="t" l="l"/>
            <a:pathLst>
              <a:path h="3371800" w="4206549">
                <a:moveTo>
                  <a:pt x="0" y="0"/>
                </a:moveTo>
                <a:lnTo>
                  <a:pt x="4206548" y="0"/>
                </a:lnTo>
                <a:lnTo>
                  <a:pt x="4206548" y="3371801"/>
                </a:lnTo>
                <a:lnTo>
                  <a:pt x="0" y="3371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383" r="0" b="-837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89627" y="7305583"/>
            <a:ext cx="3989604" cy="1436258"/>
          </a:xfrm>
          <a:custGeom>
            <a:avLst/>
            <a:gdLst/>
            <a:ahLst/>
            <a:cxnLst/>
            <a:rect r="r" b="b" t="t" l="l"/>
            <a:pathLst>
              <a:path h="1436258" w="3989604">
                <a:moveTo>
                  <a:pt x="0" y="0"/>
                </a:moveTo>
                <a:lnTo>
                  <a:pt x="3989604" y="0"/>
                </a:lnTo>
                <a:lnTo>
                  <a:pt x="3989604" y="1436258"/>
                </a:lnTo>
                <a:lnTo>
                  <a:pt x="0" y="1436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2490787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111" indent="-416056" lvl="1">
              <a:lnSpc>
                <a:spcPts val="5395"/>
              </a:lnSpc>
              <a:buAutoNum type="arabicPeriod" startAt="1"/>
            </a:pPr>
            <a:r>
              <a:rPr lang="en-US" sz="3854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19548" indent="-409774" lvl="1">
              <a:lnSpc>
                <a:spcPts val="5314"/>
              </a:lnSpc>
              <a:buAutoNum type="arabicPeriod" startAt="1"/>
            </a:pPr>
            <a:r>
              <a:rPr lang="en-US" sz="3795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061" indent="-412030" lvl="1">
              <a:lnSpc>
                <a:spcPts val="5343"/>
              </a:lnSpc>
              <a:buAutoNum type="arabicPeriod" startAt="1"/>
            </a:pPr>
            <a:r>
              <a:rPr lang="en-US" sz="3816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1478" y="939515"/>
            <a:ext cx="6325043" cy="105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4"/>
              </a:lnSpc>
            </a:pPr>
            <a:r>
              <a:rPr lang="en-US" sz="4668" spc="-410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01 - Propane</a:t>
            </a:r>
          </a:p>
          <a:p>
            <a:pPr algn="ctr">
              <a:lnSpc>
                <a:spcPts val="4014"/>
              </a:lnSpc>
            </a:pPr>
            <a:r>
              <a:rPr lang="en-US" sz="4668" spc="-410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C₃H₈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3093" y="3297358"/>
            <a:ext cx="4470082" cy="19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4"/>
              </a:lnSpc>
            </a:pPr>
            <a:r>
              <a:rPr lang="en-US" sz="11596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C₃H₈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69782" y="7248150"/>
            <a:ext cx="6741098" cy="161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6"/>
              </a:lnSpc>
            </a:pPr>
            <a:r>
              <a:rPr lang="en-US" sz="9454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CH₃CH₂CH₃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0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748" y="2312737"/>
            <a:ext cx="0" cy="7531355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729471" y="5676355"/>
            <a:ext cx="16829058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738095" y="1689006"/>
            <a:ext cx="5062251" cy="5268048"/>
          </a:xfrm>
          <a:custGeom>
            <a:avLst/>
            <a:gdLst/>
            <a:ahLst/>
            <a:cxnLst/>
            <a:rect r="r" b="b" t="t" l="l"/>
            <a:pathLst>
              <a:path h="5268048" w="5062251">
                <a:moveTo>
                  <a:pt x="0" y="0"/>
                </a:moveTo>
                <a:lnTo>
                  <a:pt x="5062251" y="0"/>
                </a:lnTo>
                <a:lnTo>
                  <a:pt x="5062251" y="5268049"/>
                </a:lnTo>
                <a:lnTo>
                  <a:pt x="0" y="5268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6" r="-6304" b="-107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20983" y="6957055"/>
            <a:ext cx="5296475" cy="1904351"/>
          </a:xfrm>
          <a:custGeom>
            <a:avLst/>
            <a:gdLst/>
            <a:ahLst/>
            <a:cxnLst/>
            <a:rect r="r" b="b" t="t" l="l"/>
            <a:pathLst>
              <a:path h="1904351" w="5296475">
                <a:moveTo>
                  <a:pt x="0" y="0"/>
                </a:moveTo>
                <a:lnTo>
                  <a:pt x="5296475" y="0"/>
                </a:lnTo>
                <a:lnTo>
                  <a:pt x="5296475" y="1904350"/>
                </a:lnTo>
                <a:lnTo>
                  <a:pt x="0" y="190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787"/>
            <a:ext cx="5324475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9548" indent="-409774" lvl="1">
              <a:lnSpc>
                <a:spcPts val="5314"/>
              </a:lnSpc>
              <a:buAutoNum type="arabicPeriod" startAt="1"/>
            </a:pPr>
            <a:r>
              <a:rPr lang="en-US" sz="3795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814" indent="-409907" lvl="1">
              <a:lnSpc>
                <a:spcPts val="5316"/>
              </a:lnSpc>
              <a:buAutoNum type="arabicPeriod" startAt="1"/>
            </a:pPr>
            <a:r>
              <a:rPr lang="en-US" sz="3797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7879" y="1017207"/>
            <a:ext cx="6212243" cy="9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385" spc="-385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02 - Ethanol</a:t>
            </a:r>
          </a:p>
          <a:p>
            <a:pPr algn="ctr">
              <a:lnSpc>
                <a:spcPts val="3771"/>
              </a:lnSpc>
            </a:pPr>
            <a:r>
              <a:rPr lang="en-US" sz="4385" spc="-385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C₂H₆O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3092" y="3282201"/>
            <a:ext cx="4470082" cy="199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1"/>
              </a:lnSpc>
            </a:pPr>
            <a:r>
              <a:rPr lang="en-US" sz="11643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C₂H₆O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763" y="6913863"/>
            <a:ext cx="6135422" cy="160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0"/>
              </a:lnSpc>
            </a:pPr>
            <a:r>
              <a:rPr lang="en-US" sz="9285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CH₃CH₂OH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0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23" y="2250530"/>
            <a:ext cx="0" cy="769686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44558" y="5688064"/>
            <a:ext cx="17198884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868943" y="1711664"/>
            <a:ext cx="5487659" cy="5487659"/>
          </a:xfrm>
          <a:custGeom>
            <a:avLst/>
            <a:gdLst/>
            <a:ahLst/>
            <a:cxnLst/>
            <a:rect r="r" b="b" t="t" l="l"/>
            <a:pathLst>
              <a:path h="5487659" w="5487659">
                <a:moveTo>
                  <a:pt x="0" y="0"/>
                </a:moveTo>
                <a:lnTo>
                  <a:pt x="5487659" y="0"/>
                </a:lnTo>
                <a:lnTo>
                  <a:pt x="5487659" y="5487659"/>
                </a:lnTo>
                <a:lnTo>
                  <a:pt x="0" y="5487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30320" y="7199323"/>
            <a:ext cx="3030032" cy="2689154"/>
          </a:xfrm>
          <a:custGeom>
            <a:avLst/>
            <a:gdLst/>
            <a:ahLst/>
            <a:cxnLst/>
            <a:rect r="r" b="b" t="t" l="l"/>
            <a:pathLst>
              <a:path h="2689154" w="3030032">
                <a:moveTo>
                  <a:pt x="0" y="0"/>
                </a:moveTo>
                <a:lnTo>
                  <a:pt x="3030032" y="0"/>
                </a:lnTo>
                <a:lnTo>
                  <a:pt x="3030032" y="2689154"/>
                </a:lnTo>
                <a:lnTo>
                  <a:pt x="0" y="2689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558"/>
            <a:ext cx="5324899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176" y="2490558"/>
            <a:ext cx="5319565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309" y="6077889"/>
            <a:ext cx="8160360" cy="6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659" indent="-410329" lvl="1">
              <a:lnSpc>
                <a:spcPts val="5321"/>
              </a:lnSpc>
              <a:buAutoNum type="arabicPeriod" startAt="1"/>
            </a:pPr>
            <a:r>
              <a:rPr lang="en-US" sz="3801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245" y="6077903"/>
            <a:ext cx="7426055" cy="64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659" indent="-410329" lvl="1">
              <a:lnSpc>
                <a:spcPts val="5321"/>
              </a:lnSpc>
              <a:buAutoNum type="arabicPeriod" startAt="1"/>
            </a:pPr>
            <a:r>
              <a:rPr lang="en-US" sz="3801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5228" y="923180"/>
            <a:ext cx="8937544" cy="105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sz="4685" spc="-412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03 - Acetone (propan-2-one) </a:t>
            </a:r>
          </a:p>
          <a:p>
            <a:pPr algn="ctr">
              <a:lnSpc>
                <a:spcPts val="4029"/>
              </a:lnSpc>
            </a:pPr>
            <a:r>
              <a:rPr lang="en-US" sz="4685" spc="-412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C₃H₆O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3195" y="3147581"/>
            <a:ext cx="4470404" cy="199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9"/>
              </a:lnSpc>
            </a:pPr>
            <a:r>
              <a:rPr lang="en-US" sz="1172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C₃H₆O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1513" y="6976004"/>
            <a:ext cx="6270250" cy="160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sz="9489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CH₃COCH₃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06" y="2273439"/>
            <a:ext cx="0" cy="7635908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12658" y="5683752"/>
            <a:ext cx="17062684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694362" y="1587105"/>
            <a:ext cx="5704186" cy="5704186"/>
          </a:xfrm>
          <a:custGeom>
            <a:avLst/>
            <a:gdLst/>
            <a:ahLst/>
            <a:cxnLst/>
            <a:rect r="r" b="b" t="t" l="l"/>
            <a:pathLst>
              <a:path h="5704186" w="5704186">
                <a:moveTo>
                  <a:pt x="0" y="0"/>
                </a:moveTo>
                <a:lnTo>
                  <a:pt x="5704186" y="0"/>
                </a:lnTo>
                <a:lnTo>
                  <a:pt x="5704186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17422" y="7131584"/>
            <a:ext cx="4218133" cy="3186036"/>
          </a:xfrm>
          <a:custGeom>
            <a:avLst/>
            <a:gdLst/>
            <a:ahLst/>
            <a:cxnLst/>
            <a:rect r="r" b="b" t="t" l="l"/>
            <a:pathLst>
              <a:path h="3186036" w="4218133">
                <a:moveTo>
                  <a:pt x="0" y="0"/>
                </a:moveTo>
                <a:lnTo>
                  <a:pt x="4218132" y="0"/>
                </a:lnTo>
                <a:lnTo>
                  <a:pt x="4218132" y="3186037"/>
                </a:lnTo>
                <a:lnTo>
                  <a:pt x="0" y="3186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788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70" indent="-415285" lvl="1">
              <a:lnSpc>
                <a:spcPts val="5385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758" indent="-415379" lvl="1">
              <a:lnSpc>
                <a:spcPts val="5387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AutoNum type="arabicPeriod" startAt="1"/>
            </a:pPr>
            <a:r>
              <a:rPr lang="en-US" sz="380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76132" y="967333"/>
            <a:ext cx="8514947" cy="103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sz="4648" i="true" spc="-409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04 - Acetic Acid (ethanoic acid) </a:t>
            </a:r>
          </a:p>
          <a:p>
            <a:pPr algn="ctr">
              <a:lnSpc>
                <a:spcPts val="3997"/>
              </a:lnSpc>
            </a:pPr>
            <a:r>
              <a:rPr lang="en-US" sz="4648" i="true" spc="-409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C₂H₄O₂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8973" y="3158490"/>
            <a:ext cx="5777454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6"/>
              </a:lnSpc>
            </a:pPr>
            <a:r>
              <a:rPr lang="en-US" sz="11711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C₂H₄O₂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530" y="6960134"/>
            <a:ext cx="6220596" cy="1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0"/>
              </a:lnSpc>
            </a:pPr>
            <a:r>
              <a:rPr lang="en-US" sz="9414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CH₃COOH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182" cy="9499282"/>
            <a:chOff x="0" y="0"/>
            <a:chExt cx="2284557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6797" y="96200"/>
              <a:ext cx="22808779" cy="12569510"/>
              <a:chOff x="0" y="0"/>
              <a:chExt cx="2351083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1083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1083">
                    <a:moveTo>
                      <a:pt x="42376" y="0"/>
                    </a:moveTo>
                    <a:lnTo>
                      <a:pt x="2308707" y="0"/>
                    </a:lnTo>
                    <a:cubicBezTo>
                      <a:pt x="2332111" y="0"/>
                      <a:pt x="2351083" y="18972"/>
                      <a:pt x="2351083" y="42376"/>
                    </a:cubicBezTo>
                    <a:lnTo>
                      <a:pt x="2351083" y="1253264"/>
                    </a:lnTo>
                    <a:cubicBezTo>
                      <a:pt x="2351083" y="1276668"/>
                      <a:pt x="2332111" y="1295640"/>
                      <a:pt x="2308707" y="1295640"/>
                    </a:cubicBezTo>
                    <a:lnTo>
                      <a:pt x="42376" y="1295640"/>
                    </a:lnTo>
                    <a:cubicBezTo>
                      <a:pt x="18972" y="1295640"/>
                      <a:pt x="0" y="1276668"/>
                      <a:pt x="0" y="1253264"/>
                    </a:cubicBezTo>
                    <a:lnTo>
                      <a:pt x="0" y="42376"/>
                    </a:lnTo>
                    <a:cubicBezTo>
                      <a:pt x="0" y="18972"/>
                      <a:pt x="18972" y="0"/>
                      <a:pt x="42376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1083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48" y="0"/>
              <a:ext cx="22827459" cy="2505641"/>
              <a:chOff x="0" y="0"/>
              <a:chExt cx="2353009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3009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3009">
                    <a:moveTo>
                      <a:pt x="42341" y="0"/>
                    </a:moveTo>
                    <a:lnTo>
                      <a:pt x="2310667" y="0"/>
                    </a:lnTo>
                    <a:cubicBezTo>
                      <a:pt x="2321897" y="0"/>
                      <a:pt x="2332667" y="4461"/>
                      <a:pt x="2340607" y="12401"/>
                    </a:cubicBezTo>
                    <a:cubicBezTo>
                      <a:pt x="2348548" y="20342"/>
                      <a:pt x="2353009" y="31112"/>
                      <a:pt x="2353009" y="42341"/>
                    </a:cubicBezTo>
                    <a:lnTo>
                      <a:pt x="2353009" y="215935"/>
                    </a:lnTo>
                    <a:cubicBezTo>
                      <a:pt x="2353009" y="227165"/>
                      <a:pt x="2348548" y="237934"/>
                      <a:pt x="2340607" y="245875"/>
                    </a:cubicBezTo>
                    <a:cubicBezTo>
                      <a:pt x="2332667" y="253815"/>
                      <a:pt x="2321897" y="258276"/>
                      <a:pt x="2310667" y="258276"/>
                    </a:cubicBezTo>
                    <a:lnTo>
                      <a:pt x="42341" y="258276"/>
                    </a:lnTo>
                    <a:cubicBezTo>
                      <a:pt x="31112" y="258276"/>
                      <a:pt x="20342" y="253815"/>
                      <a:pt x="12401" y="245875"/>
                    </a:cubicBezTo>
                    <a:cubicBezTo>
                      <a:pt x="4461" y="237934"/>
                      <a:pt x="0" y="227165"/>
                      <a:pt x="0" y="215935"/>
                    </a:cubicBezTo>
                    <a:lnTo>
                      <a:pt x="0" y="42341"/>
                    </a:lnTo>
                    <a:cubicBezTo>
                      <a:pt x="0" y="31112"/>
                      <a:pt x="4461" y="20342"/>
                      <a:pt x="12401" y="12401"/>
                    </a:cubicBezTo>
                    <a:cubicBezTo>
                      <a:pt x="20342" y="4461"/>
                      <a:pt x="31112" y="0"/>
                      <a:pt x="42341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3009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28171" cy="1252820"/>
              <a:chOff x="0" y="0"/>
              <a:chExt cx="2353082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3082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3082">
                    <a:moveTo>
                      <a:pt x="0" y="0"/>
                    </a:moveTo>
                    <a:lnTo>
                      <a:pt x="2353082" y="0"/>
                    </a:lnTo>
                    <a:lnTo>
                      <a:pt x="2353082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3082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82625" y="10088054"/>
              <a:ext cx="224569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98" y="2243617"/>
            <a:ext cx="0" cy="771525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24011" y="5689365"/>
            <a:ext cx="17239977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215185" y="1028700"/>
            <a:ext cx="6689817" cy="6689817"/>
          </a:xfrm>
          <a:custGeom>
            <a:avLst/>
            <a:gdLst/>
            <a:ahLst/>
            <a:cxnLst/>
            <a:rect r="r" b="b" t="t" l="l"/>
            <a:pathLst>
              <a:path h="6689817" w="6689817">
                <a:moveTo>
                  <a:pt x="0" y="0"/>
                </a:moveTo>
                <a:lnTo>
                  <a:pt x="6689817" y="0"/>
                </a:lnTo>
                <a:lnTo>
                  <a:pt x="6689817" y="6689817"/>
                </a:lnTo>
                <a:lnTo>
                  <a:pt x="0" y="668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40318" y="7001769"/>
            <a:ext cx="5459259" cy="2957098"/>
          </a:xfrm>
          <a:custGeom>
            <a:avLst/>
            <a:gdLst/>
            <a:ahLst/>
            <a:cxnLst/>
            <a:rect r="r" b="b" t="t" l="l"/>
            <a:pathLst>
              <a:path h="2957098" w="5459259">
                <a:moveTo>
                  <a:pt x="0" y="0"/>
                </a:moveTo>
                <a:lnTo>
                  <a:pt x="5459258" y="0"/>
                </a:lnTo>
                <a:lnTo>
                  <a:pt x="5459258" y="2957099"/>
                </a:lnTo>
                <a:lnTo>
                  <a:pt x="0" y="2957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787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70" indent="-415285" lvl="1">
              <a:lnSpc>
                <a:spcPts val="5385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9075" y="912733"/>
            <a:ext cx="9669850" cy="105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4697" i="true" spc="-413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05 -  Ethyl acetate (ethyl ethanoate)</a:t>
            </a:r>
          </a:p>
          <a:p>
            <a:pPr algn="ctr">
              <a:lnSpc>
                <a:spcPts val="4039"/>
              </a:lnSpc>
            </a:pPr>
            <a:r>
              <a:rPr lang="en-US" sz="4697" i="true" spc="-413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C₄H₈O₂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3286" y="3248449"/>
            <a:ext cx="5271579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C₄H₈O₂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972" y="7155425"/>
            <a:ext cx="7469782" cy="13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0"/>
              </a:lnSpc>
            </a:pPr>
            <a:r>
              <a:rPr lang="en-US" sz="7943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CH₃COOCH₂CH₃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216" cy="9499282"/>
            <a:chOff x="0" y="0"/>
            <a:chExt cx="22845621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3197" y="96200"/>
              <a:ext cx="22812424" cy="12569510"/>
              <a:chOff x="0" y="0"/>
              <a:chExt cx="2351459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1459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1459">
                    <a:moveTo>
                      <a:pt x="42369" y="0"/>
                    </a:moveTo>
                    <a:lnTo>
                      <a:pt x="2309090" y="0"/>
                    </a:lnTo>
                    <a:cubicBezTo>
                      <a:pt x="2320327" y="0"/>
                      <a:pt x="2331103" y="4464"/>
                      <a:pt x="2339049" y="12410"/>
                    </a:cubicBezTo>
                    <a:cubicBezTo>
                      <a:pt x="2346995" y="20355"/>
                      <a:pt x="2351459" y="31132"/>
                      <a:pt x="2351459" y="42369"/>
                    </a:cubicBezTo>
                    <a:lnTo>
                      <a:pt x="2351459" y="1253271"/>
                    </a:lnTo>
                    <a:cubicBezTo>
                      <a:pt x="2351459" y="1276671"/>
                      <a:pt x="2332489" y="1295640"/>
                      <a:pt x="2309090" y="1295640"/>
                    </a:cubicBezTo>
                    <a:lnTo>
                      <a:pt x="42369" y="1295640"/>
                    </a:lnTo>
                    <a:cubicBezTo>
                      <a:pt x="31132" y="1295640"/>
                      <a:pt x="20355" y="1291176"/>
                      <a:pt x="12410" y="1283230"/>
                    </a:cubicBezTo>
                    <a:cubicBezTo>
                      <a:pt x="4464" y="1275284"/>
                      <a:pt x="0" y="1264508"/>
                      <a:pt x="0" y="1253271"/>
                    </a:cubicBezTo>
                    <a:lnTo>
                      <a:pt x="0" y="42369"/>
                    </a:lnTo>
                    <a:cubicBezTo>
                      <a:pt x="0" y="31132"/>
                      <a:pt x="4464" y="20355"/>
                      <a:pt x="12410" y="12410"/>
                    </a:cubicBezTo>
                    <a:cubicBezTo>
                      <a:pt x="20355" y="4464"/>
                      <a:pt x="31132" y="0"/>
                      <a:pt x="42369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1459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216" y="0"/>
              <a:ext cx="22831560" cy="2505641"/>
              <a:chOff x="0" y="0"/>
              <a:chExt cx="2353431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3431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3431">
                    <a:moveTo>
                      <a:pt x="42334" y="0"/>
                    </a:moveTo>
                    <a:lnTo>
                      <a:pt x="2311098" y="0"/>
                    </a:lnTo>
                    <a:cubicBezTo>
                      <a:pt x="2334478" y="0"/>
                      <a:pt x="2353431" y="18953"/>
                      <a:pt x="2353431" y="42334"/>
                    </a:cubicBezTo>
                    <a:lnTo>
                      <a:pt x="2353431" y="215943"/>
                    </a:lnTo>
                    <a:cubicBezTo>
                      <a:pt x="2353431" y="227170"/>
                      <a:pt x="2348971" y="237938"/>
                      <a:pt x="2341032" y="245877"/>
                    </a:cubicBezTo>
                    <a:cubicBezTo>
                      <a:pt x="2333093" y="253816"/>
                      <a:pt x="2322325" y="258276"/>
                      <a:pt x="2311098" y="258276"/>
                    </a:cubicBezTo>
                    <a:lnTo>
                      <a:pt x="42334" y="258276"/>
                    </a:lnTo>
                    <a:cubicBezTo>
                      <a:pt x="18953" y="258276"/>
                      <a:pt x="0" y="239323"/>
                      <a:pt x="0" y="215943"/>
                    </a:cubicBezTo>
                    <a:lnTo>
                      <a:pt x="0" y="42334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4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3431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32289" cy="1252820"/>
              <a:chOff x="0" y="0"/>
              <a:chExt cx="235350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3507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3507">
                    <a:moveTo>
                      <a:pt x="0" y="0"/>
                    </a:moveTo>
                    <a:lnTo>
                      <a:pt x="2353507" y="0"/>
                    </a:lnTo>
                    <a:lnTo>
                      <a:pt x="2353507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350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85883" y="10088054"/>
              <a:ext cx="2246086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13" y="2247771"/>
            <a:ext cx="0" cy="770420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36358" y="5688584"/>
            <a:ext cx="17215284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205500" y="1063139"/>
            <a:ext cx="6316789" cy="6316789"/>
          </a:xfrm>
          <a:custGeom>
            <a:avLst/>
            <a:gdLst/>
            <a:ahLst/>
            <a:cxnLst/>
            <a:rect r="r" b="b" t="t" l="l"/>
            <a:pathLst>
              <a:path h="6316789" w="6316789">
                <a:moveTo>
                  <a:pt x="0" y="0"/>
                </a:moveTo>
                <a:lnTo>
                  <a:pt x="6316788" y="0"/>
                </a:lnTo>
                <a:lnTo>
                  <a:pt x="6316788" y="6316788"/>
                </a:lnTo>
                <a:lnTo>
                  <a:pt x="0" y="6316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25333" y="7015747"/>
            <a:ext cx="2504676" cy="2867195"/>
          </a:xfrm>
          <a:custGeom>
            <a:avLst/>
            <a:gdLst/>
            <a:ahLst/>
            <a:cxnLst/>
            <a:rect r="r" b="b" t="t" l="l"/>
            <a:pathLst>
              <a:path h="2867195" w="2504676">
                <a:moveTo>
                  <a:pt x="0" y="0"/>
                </a:moveTo>
                <a:lnTo>
                  <a:pt x="2504676" y="0"/>
                </a:lnTo>
                <a:lnTo>
                  <a:pt x="2504676" y="2867196"/>
                </a:lnTo>
                <a:lnTo>
                  <a:pt x="0" y="2867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787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70" indent="-415285" lvl="1">
              <a:lnSpc>
                <a:spcPts val="5385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902" y="6077903"/>
            <a:ext cx="7425690" cy="64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441" indent="-410721" lvl="1">
              <a:lnSpc>
                <a:spcPts val="5326"/>
              </a:lnSpc>
              <a:buAutoNum type="arabicPeriod" startAt="1"/>
            </a:pPr>
            <a:r>
              <a:rPr lang="en-US" sz="3804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6593" y="919011"/>
            <a:ext cx="6354813" cy="105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sz="4690" i="true" spc="-412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06 - Cyclohexane</a:t>
            </a:r>
          </a:p>
          <a:p>
            <a:pPr algn="ctr">
              <a:lnSpc>
                <a:spcPts val="4033"/>
              </a:lnSpc>
            </a:pPr>
            <a:r>
              <a:rPr lang="en-US" sz="4690" i="true" spc="-412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C₆H₁₂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2835" y="2926902"/>
            <a:ext cx="4784525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C₆H₁₂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0173" y="6749047"/>
            <a:ext cx="4940495" cy="230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8"/>
              </a:lnSpc>
            </a:pPr>
            <a:r>
              <a:rPr lang="en-US" sz="13549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(CH₂)₆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57" y="2232471"/>
            <a:ext cx="0" cy="7744906"/>
          </a:xfrm>
          <a:prstGeom prst="line">
            <a:avLst/>
          </a:prstGeom>
          <a:ln cap="flat" w="57150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490878" y="5691464"/>
            <a:ext cx="17306243" cy="0"/>
          </a:xfrm>
          <a:prstGeom prst="line">
            <a:avLst/>
          </a:prstGeom>
          <a:ln cap="flat" w="57150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524107" y="1028700"/>
            <a:ext cx="6304777" cy="6304777"/>
          </a:xfrm>
          <a:custGeom>
            <a:avLst/>
            <a:gdLst/>
            <a:ahLst/>
            <a:cxnLst/>
            <a:rect r="r" b="b" t="t" l="l"/>
            <a:pathLst>
              <a:path h="6304777" w="6304777">
                <a:moveTo>
                  <a:pt x="0" y="0"/>
                </a:moveTo>
                <a:lnTo>
                  <a:pt x="6304777" y="0"/>
                </a:lnTo>
                <a:lnTo>
                  <a:pt x="6304777" y="6304777"/>
                </a:lnTo>
                <a:lnTo>
                  <a:pt x="0" y="6304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86337" y="7136387"/>
            <a:ext cx="4191638" cy="2413367"/>
          </a:xfrm>
          <a:custGeom>
            <a:avLst/>
            <a:gdLst/>
            <a:ahLst/>
            <a:cxnLst/>
            <a:rect r="r" b="b" t="t" l="l"/>
            <a:pathLst>
              <a:path h="2413367" w="4191638">
                <a:moveTo>
                  <a:pt x="0" y="0"/>
                </a:moveTo>
                <a:lnTo>
                  <a:pt x="4191637" y="0"/>
                </a:lnTo>
                <a:lnTo>
                  <a:pt x="4191637" y="2413367"/>
                </a:lnTo>
                <a:lnTo>
                  <a:pt x="0" y="2413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90787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70" indent="-415285" lvl="1">
              <a:lnSpc>
                <a:spcPts val="5385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6" indent="-415608" lvl="1">
              <a:lnSpc>
                <a:spcPts val="5390"/>
              </a:lnSpc>
              <a:buAutoNum type="arabicPeriod" startAt="1"/>
            </a:pPr>
            <a:r>
              <a:rPr lang="en-US" sz="385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9805" y="895885"/>
            <a:ext cx="6388390" cy="106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sz="4715" i="true" spc="-414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07 - Cyclohexanone </a:t>
            </a:r>
          </a:p>
          <a:p>
            <a:pPr algn="ctr">
              <a:lnSpc>
                <a:spcPts val="4054"/>
              </a:lnSpc>
            </a:pPr>
            <a:r>
              <a:rPr lang="en-US" sz="4715" i="true" spc="-414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C₆H₁₀O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6371" y="2916348"/>
            <a:ext cx="5995068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C₆H₁₀O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97342" y="7018220"/>
            <a:ext cx="5214147" cy="162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9549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(CH₂)₅CO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67" y="2290396"/>
            <a:ext cx="0" cy="7590795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63061" y="5680560"/>
            <a:ext cx="16961877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171687" y="6902778"/>
            <a:ext cx="6260182" cy="2978413"/>
          </a:xfrm>
          <a:custGeom>
            <a:avLst/>
            <a:gdLst/>
            <a:ahLst/>
            <a:cxnLst/>
            <a:rect r="r" b="b" t="t" l="l"/>
            <a:pathLst>
              <a:path h="2978413" w="6260182">
                <a:moveTo>
                  <a:pt x="0" y="0"/>
                </a:moveTo>
                <a:lnTo>
                  <a:pt x="6260182" y="0"/>
                </a:lnTo>
                <a:lnTo>
                  <a:pt x="6260182" y="2978412"/>
                </a:lnTo>
                <a:lnTo>
                  <a:pt x="0" y="297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490787"/>
            <a:ext cx="5324475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70" indent="-415285" lvl="1">
              <a:lnSpc>
                <a:spcPts val="5385"/>
              </a:lnSpc>
              <a:buAutoNum type="arabicPeriod" startAt="1"/>
            </a:pPr>
            <a:r>
              <a:rPr lang="en-US" sz="3847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6" indent="-415608" lvl="1">
              <a:lnSpc>
                <a:spcPts val="5390"/>
              </a:lnSpc>
              <a:buAutoNum type="arabicPeriod" startAt="1"/>
            </a:pPr>
            <a:r>
              <a:rPr lang="en-US" sz="385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99633" y="973913"/>
            <a:ext cx="9688735" cy="1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sz="4621" i="true" spc="-406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08 - Acetaminophen (paracetamol)</a:t>
            </a:r>
          </a:p>
          <a:p>
            <a:pPr algn="ctr">
              <a:lnSpc>
                <a:spcPts val="3974"/>
              </a:lnSpc>
            </a:pPr>
            <a:r>
              <a:rPr lang="en-US" sz="4621" i="true" spc="-406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C₈H₉NO₂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380776">
            <a:off x="11473809" y="1861179"/>
            <a:ext cx="4858714" cy="4858714"/>
          </a:xfrm>
          <a:custGeom>
            <a:avLst/>
            <a:gdLst/>
            <a:ahLst/>
            <a:cxnLst/>
            <a:rect r="r" b="b" t="t" l="l"/>
            <a:pathLst>
              <a:path h="4858714" w="4858714">
                <a:moveTo>
                  <a:pt x="0" y="0"/>
                </a:moveTo>
                <a:lnTo>
                  <a:pt x="4858714" y="0"/>
                </a:lnTo>
                <a:lnTo>
                  <a:pt x="4858714" y="4858714"/>
                </a:lnTo>
                <a:lnTo>
                  <a:pt x="0" y="4858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06525" y="3181826"/>
            <a:ext cx="6186216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C₈H₉NO₂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8492" y="7193889"/>
            <a:ext cx="6981600" cy="23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sz="6876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HOC₆H₄NHCOCH₃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325" cy="9499282"/>
            <a:chOff x="0" y="0"/>
            <a:chExt cx="22845766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50" y="96200"/>
              <a:ext cx="22824316" cy="12569510"/>
              <a:chOff x="0" y="0"/>
              <a:chExt cx="235268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68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685">
                    <a:moveTo>
                      <a:pt x="42347" y="0"/>
                    </a:moveTo>
                    <a:lnTo>
                      <a:pt x="2310338" y="0"/>
                    </a:lnTo>
                    <a:cubicBezTo>
                      <a:pt x="2333725" y="0"/>
                      <a:pt x="2352685" y="18959"/>
                      <a:pt x="2352685" y="42347"/>
                    </a:cubicBezTo>
                    <a:lnTo>
                      <a:pt x="2352685" y="1253293"/>
                    </a:lnTo>
                    <a:cubicBezTo>
                      <a:pt x="2352685" y="1276681"/>
                      <a:pt x="2333725" y="1295640"/>
                      <a:pt x="2310338" y="1295640"/>
                    </a:cubicBezTo>
                    <a:lnTo>
                      <a:pt x="42347" y="1295640"/>
                    </a:lnTo>
                    <a:cubicBezTo>
                      <a:pt x="18959" y="1295640"/>
                      <a:pt x="0" y="1276681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68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4" y="0"/>
              <a:ext cx="22844982" cy="2505641"/>
              <a:chOff x="0" y="0"/>
              <a:chExt cx="235481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1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15">
                    <a:moveTo>
                      <a:pt x="42309" y="0"/>
                    </a:moveTo>
                    <a:lnTo>
                      <a:pt x="2312506" y="0"/>
                    </a:lnTo>
                    <a:cubicBezTo>
                      <a:pt x="2335873" y="0"/>
                      <a:pt x="2354815" y="18942"/>
                      <a:pt x="2354815" y="42309"/>
                    </a:cubicBezTo>
                    <a:lnTo>
                      <a:pt x="2354815" y="215968"/>
                    </a:lnTo>
                    <a:cubicBezTo>
                      <a:pt x="2354815" y="239334"/>
                      <a:pt x="2335873" y="258276"/>
                      <a:pt x="2312506" y="258276"/>
                    </a:cubicBezTo>
                    <a:lnTo>
                      <a:pt x="42309" y="258276"/>
                    </a:lnTo>
                    <a:cubicBezTo>
                      <a:pt x="18942" y="258276"/>
                      <a:pt x="0" y="239334"/>
                      <a:pt x="0" y="215968"/>
                    </a:cubicBezTo>
                    <a:lnTo>
                      <a:pt x="0" y="42309"/>
                    </a:lnTo>
                    <a:cubicBezTo>
                      <a:pt x="0" y="18942"/>
                      <a:pt x="18942" y="0"/>
                      <a:pt x="42309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1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5766" cy="1252820"/>
              <a:chOff x="0" y="0"/>
              <a:chExt cx="2354896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896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896">
                    <a:moveTo>
                      <a:pt x="0" y="0"/>
                    </a:moveTo>
                    <a:lnTo>
                      <a:pt x="2354896" y="0"/>
                    </a:lnTo>
                    <a:lnTo>
                      <a:pt x="2354896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896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546" y="10088054"/>
              <a:ext cx="2247349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30" y="2280011"/>
            <a:ext cx="0" cy="7618425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32191" y="5682515"/>
            <a:ext cx="17023618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1796757">
            <a:off x="11776444" y="3075362"/>
            <a:ext cx="4012968" cy="3089828"/>
          </a:xfrm>
          <a:custGeom>
            <a:avLst/>
            <a:gdLst/>
            <a:ahLst/>
            <a:cxnLst/>
            <a:rect r="r" b="b" t="t" l="l"/>
            <a:pathLst>
              <a:path h="3089828" w="4012968">
                <a:moveTo>
                  <a:pt x="0" y="0"/>
                </a:moveTo>
                <a:lnTo>
                  <a:pt x="4012969" y="0"/>
                </a:lnTo>
                <a:lnTo>
                  <a:pt x="4012969" y="3089828"/>
                </a:lnTo>
                <a:lnTo>
                  <a:pt x="0" y="308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38" r="0" b="-1493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1195247" y="6719694"/>
            <a:ext cx="4243330" cy="3125575"/>
          </a:xfrm>
          <a:custGeom>
            <a:avLst/>
            <a:gdLst/>
            <a:ahLst/>
            <a:cxnLst/>
            <a:rect r="r" b="b" t="t" l="l"/>
            <a:pathLst>
              <a:path h="3125575" w="4243330">
                <a:moveTo>
                  <a:pt x="0" y="3125574"/>
                </a:moveTo>
                <a:lnTo>
                  <a:pt x="4243330" y="3125574"/>
                </a:lnTo>
                <a:lnTo>
                  <a:pt x="4243330" y="0"/>
                </a:lnTo>
                <a:lnTo>
                  <a:pt x="0" y="0"/>
                </a:lnTo>
                <a:lnTo>
                  <a:pt x="0" y="31255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81262"/>
            <a:ext cx="5324475" cy="6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495" indent="-416748" lvl="1">
              <a:lnSpc>
                <a:spcPts val="5404"/>
              </a:lnSpc>
              <a:buAutoNum type="arabicPeriod" startAt="1"/>
            </a:pPr>
            <a:r>
              <a:rPr lang="en-US" sz="386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4" indent="-415607" lvl="1">
              <a:lnSpc>
                <a:spcPts val="5389"/>
              </a:lnSpc>
              <a:buAutoNum type="arabicPeriod" startAt="1"/>
            </a:pPr>
            <a:r>
              <a:rPr lang="en-US" sz="3849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1969" y="958216"/>
            <a:ext cx="8737956" cy="105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</a:pPr>
            <a:r>
              <a:rPr lang="en-US" sz="4638" i="true" spc="-408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09 - Aspirin (acetylsalicylicacid)</a:t>
            </a:r>
          </a:p>
          <a:p>
            <a:pPr algn="ctr">
              <a:lnSpc>
                <a:spcPts val="3988"/>
              </a:lnSpc>
            </a:pPr>
            <a:r>
              <a:rPr lang="en-US" sz="4638" i="true" spc="-408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C₉H₈O₄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2222" y="3115462"/>
            <a:ext cx="5970955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C₉H₈O₄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396" y="7166244"/>
            <a:ext cx="6912326" cy="218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sz="6316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CH₃COOC₆H₄COOH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2" y="430530"/>
            <a:ext cx="17134534" cy="9499283"/>
            <a:chOff x="0" y="0"/>
            <a:chExt cx="22846045" cy="126657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75" y="96200"/>
              <a:ext cx="22824555" cy="12569510"/>
              <a:chOff x="0" y="0"/>
              <a:chExt cx="2352709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52709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52709">
                    <a:moveTo>
                      <a:pt x="42347" y="0"/>
                    </a:moveTo>
                    <a:lnTo>
                      <a:pt x="2310363" y="0"/>
                    </a:lnTo>
                    <a:cubicBezTo>
                      <a:pt x="2321594" y="0"/>
                      <a:pt x="2332365" y="4462"/>
                      <a:pt x="2340306" y="12403"/>
                    </a:cubicBezTo>
                    <a:cubicBezTo>
                      <a:pt x="2348248" y="20345"/>
                      <a:pt x="2352709" y="31116"/>
                      <a:pt x="2352709" y="42347"/>
                    </a:cubicBezTo>
                    <a:lnTo>
                      <a:pt x="2352709" y="1253293"/>
                    </a:lnTo>
                    <a:cubicBezTo>
                      <a:pt x="2352709" y="1276681"/>
                      <a:pt x="2333750" y="1295640"/>
                      <a:pt x="2310363" y="1295640"/>
                    </a:cubicBezTo>
                    <a:lnTo>
                      <a:pt x="42347" y="1295640"/>
                    </a:lnTo>
                    <a:cubicBezTo>
                      <a:pt x="31116" y="1295640"/>
                      <a:pt x="20345" y="1291178"/>
                      <a:pt x="12403" y="1283237"/>
                    </a:cubicBezTo>
                    <a:cubicBezTo>
                      <a:pt x="4462" y="1275295"/>
                      <a:pt x="0" y="1264524"/>
                      <a:pt x="0" y="1253293"/>
                    </a:cubicBezTo>
                    <a:lnTo>
                      <a:pt x="0" y="42347"/>
                    </a:lnTo>
                    <a:cubicBezTo>
                      <a:pt x="0" y="18959"/>
                      <a:pt x="18959" y="0"/>
                      <a:pt x="42347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52709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70" y="0"/>
              <a:ext cx="22845260" cy="2505641"/>
              <a:chOff x="0" y="0"/>
              <a:chExt cx="2354843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54843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54843">
                    <a:moveTo>
                      <a:pt x="42308" y="0"/>
                    </a:moveTo>
                    <a:lnTo>
                      <a:pt x="2312535" y="0"/>
                    </a:lnTo>
                    <a:cubicBezTo>
                      <a:pt x="2323756" y="0"/>
                      <a:pt x="2334517" y="4457"/>
                      <a:pt x="2342452" y="12392"/>
                    </a:cubicBezTo>
                    <a:cubicBezTo>
                      <a:pt x="2350386" y="20326"/>
                      <a:pt x="2354843" y="31087"/>
                      <a:pt x="2354843" y="42308"/>
                    </a:cubicBezTo>
                    <a:lnTo>
                      <a:pt x="2354843" y="215968"/>
                    </a:lnTo>
                    <a:cubicBezTo>
                      <a:pt x="2354843" y="227189"/>
                      <a:pt x="2350386" y="237950"/>
                      <a:pt x="2342452" y="245885"/>
                    </a:cubicBezTo>
                    <a:cubicBezTo>
                      <a:pt x="2334517" y="253819"/>
                      <a:pt x="2323756" y="258276"/>
                      <a:pt x="2312535" y="258276"/>
                    </a:cubicBezTo>
                    <a:lnTo>
                      <a:pt x="42308" y="258276"/>
                    </a:lnTo>
                    <a:cubicBezTo>
                      <a:pt x="31087" y="258276"/>
                      <a:pt x="20326" y="253819"/>
                      <a:pt x="12392" y="245885"/>
                    </a:cubicBezTo>
                    <a:cubicBezTo>
                      <a:pt x="4457" y="237950"/>
                      <a:pt x="0" y="227189"/>
                      <a:pt x="0" y="215968"/>
                    </a:cubicBezTo>
                    <a:lnTo>
                      <a:pt x="0" y="42308"/>
                    </a:lnTo>
                    <a:cubicBezTo>
                      <a:pt x="0" y="31087"/>
                      <a:pt x="4457" y="20326"/>
                      <a:pt x="12392" y="12392"/>
                    </a:cubicBezTo>
                    <a:cubicBezTo>
                      <a:pt x="20326" y="4457"/>
                      <a:pt x="31087" y="0"/>
                      <a:pt x="42308" y="0"/>
                    </a:cubicBez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54843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820"/>
              <a:ext cx="22846045" cy="1252820"/>
              <a:chOff x="0" y="0"/>
              <a:chExt cx="2354924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4924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54924">
                    <a:moveTo>
                      <a:pt x="0" y="0"/>
                    </a:moveTo>
                    <a:lnTo>
                      <a:pt x="2354924" y="0"/>
                    </a:lnTo>
                    <a:lnTo>
                      <a:pt x="2354924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C2F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54924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748" y="10088054"/>
              <a:ext cx="2247375" cy="751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46" y="2415086"/>
            <a:ext cx="0" cy="7606467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45551" y="5812250"/>
            <a:ext cx="16996898" cy="0"/>
          </a:xfrm>
          <a:prstGeom prst="line">
            <a:avLst/>
          </a:prstGeom>
          <a:ln cap="flat" w="47625">
            <a:solidFill>
              <a:srgbClr val="C2CD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80640">
            <a:off x="12029206" y="2915798"/>
            <a:ext cx="3303035" cy="3002586"/>
          </a:xfrm>
          <a:custGeom>
            <a:avLst/>
            <a:gdLst/>
            <a:ahLst/>
            <a:cxnLst/>
            <a:rect r="r" b="b" t="t" l="l"/>
            <a:pathLst>
              <a:path h="3002586" w="3303035">
                <a:moveTo>
                  <a:pt x="0" y="0"/>
                </a:moveTo>
                <a:lnTo>
                  <a:pt x="3303035" y="0"/>
                </a:lnTo>
                <a:lnTo>
                  <a:pt x="3303035" y="3002586"/>
                </a:lnTo>
                <a:lnTo>
                  <a:pt x="0" y="3002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03" r="0" b="-500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75103" y="7117009"/>
            <a:ext cx="4100259" cy="3095696"/>
          </a:xfrm>
          <a:custGeom>
            <a:avLst/>
            <a:gdLst/>
            <a:ahLst/>
            <a:cxnLst/>
            <a:rect r="r" b="b" t="t" l="l"/>
            <a:pathLst>
              <a:path h="3095696" w="4100259">
                <a:moveTo>
                  <a:pt x="0" y="0"/>
                </a:moveTo>
                <a:lnTo>
                  <a:pt x="4100259" y="0"/>
                </a:lnTo>
                <a:lnTo>
                  <a:pt x="4100259" y="3095696"/>
                </a:lnTo>
                <a:lnTo>
                  <a:pt x="0" y="30956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81262"/>
            <a:ext cx="5324475" cy="6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497" indent="-416749" lvl="1">
              <a:lnSpc>
                <a:spcPts val="5404"/>
              </a:lnSpc>
              <a:buAutoNum type="arabicPeriod" startAt="1"/>
            </a:pPr>
            <a:r>
              <a:rPr lang="en-US" sz="386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3310" y="2490787"/>
            <a:ext cx="5319712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16" indent="-415608" lvl="1">
              <a:lnSpc>
                <a:spcPts val="5390"/>
              </a:lnSpc>
              <a:buAutoNum type="arabicPeriod" startAt="1"/>
            </a:pPr>
            <a:r>
              <a:rPr lang="en-US" sz="3850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012" y="6077903"/>
            <a:ext cx="8160068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730" indent="-407865" lvl="1">
              <a:lnSpc>
                <a:spcPts val="5289"/>
              </a:lnSpc>
              <a:buAutoNum type="arabicPeriod" startAt="1"/>
            </a:pPr>
            <a:r>
              <a:rPr lang="en-US" sz="3778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610" y="6077903"/>
            <a:ext cx="7425690" cy="64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78" indent="-410589" lvl="1">
              <a:lnSpc>
                <a:spcPts val="5324"/>
              </a:lnSpc>
              <a:buAutoNum type="arabicPeriod" startAt="1"/>
            </a:pPr>
            <a:r>
              <a:rPr lang="en-US" sz="3803" i="true">
                <a:solidFill>
                  <a:srgbClr val="38B6FF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901" y="1095590"/>
            <a:ext cx="7303461" cy="105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sz="4630" i="true" spc="-407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CARD 10 - Caffeine</a:t>
            </a:r>
          </a:p>
          <a:p>
            <a:pPr algn="ctr">
              <a:lnSpc>
                <a:spcPts val="3982"/>
              </a:lnSpc>
            </a:pPr>
            <a:r>
              <a:rPr lang="en-US" sz="4630" i="true" spc="-407">
                <a:solidFill>
                  <a:srgbClr val="E1A8F0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Molecular Formula: C₈H₁₀N₄O₂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5768" y="3181826"/>
            <a:ext cx="7212556" cy="199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9"/>
              </a:lnSpc>
            </a:pPr>
            <a:r>
              <a:rPr lang="en-US" sz="11700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C₈H₁₀N₄O₂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586" y="6888409"/>
            <a:ext cx="6852911" cy="19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sz="11373" i="true">
                <a:solidFill>
                  <a:srgbClr val="ABBCD5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C₈H₁₀N₄O₂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DAHXr3EEIJA</dc:identifier>
  <dcterms:modified xsi:type="dcterms:W3CDTF">2011-08-01T06:04:30Z</dcterms:modified>
  <cp:revision>1</cp:revision>
  <dc:title>Imperial_Asynch 2</dc:title>
</cp:coreProperties>
</file>